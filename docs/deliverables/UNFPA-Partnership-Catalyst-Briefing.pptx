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Designing Innovative PPPs for</a:t>
            </a:r>
            <a:br/>
            <a:r>
              <a:t>Climate &amp; Humanitarian Resilience in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EDB"/>
                </a:solidFill>
                <a:latin typeface="Calibri"/>
              </a:defRPr>
            </a:pPr>
            <a:r>
              <a:t>UNFPA Partnership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LKYSPP Policy Innovation Lab  |  National University of Singapore</a:t>
            </a:r>
            <a:br/>
            <a:r>
              <a:t>Professor Mancini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Design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0F6FC"/>
          </a:solidFill>
          <a:ln w="254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EDB"/>
                </a:solidFill>
                <a:latin typeface="Calibri"/>
              </a:defRPr>
            </a:pPr>
            <a:r>
              <a:t>HOW MIGHT WE...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03120"/>
            <a:ext cx="8503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Design innovative public-private partnerships that enable fragmented climate and humanitarian finance to flow efficiently toward inclusive, community-led resilience initiatives across Asia?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Challenge: Fragmented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$350B+ </a:t>
            </a:r>
            <a:r>
              <a:rPr sz="1800">
                <a:solidFill>
                  <a:srgbClr val="333333"/>
                </a:solidFill>
                <a:latin typeface="Calibri"/>
              </a:rPr>
              <a:t>in annual climate finance flows globally, but less than 10% reaches local communities in Asia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Humanitarian funding </a:t>
            </a:r>
            <a:r>
              <a:rPr sz="1800">
                <a:solidFill>
                  <a:srgbClr val="333333"/>
                </a:solidFill>
                <a:latin typeface="Calibri"/>
              </a:rPr>
              <a:t>operates in parallel silos: bilateral donors, multilateral funds, private philanthropy, DFIs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SRHR-climate nexus </a:t>
            </a:r>
            <a:r>
              <a:rPr sz="1800">
                <a:solidFill>
                  <a:srgbClr val="333333"/>
                </a:solidFill>
                <a:latin typeface="Calibri"/>
              </a:rPr>
              <a:t>is severely underfunded despite clear evidence linking reproductive health to climate resilience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Community-led initiatives </a:t>
            </a:r>
            <a:r>
              <a:rPr sz="1800">
                <a:solidFill>
                  <a:srgbClr val="333333"/>
                </a:solidFill>
                <a:latin typeface="Calibri"/>
              </a:rPr>
              <a:t>struggle to access large-scale funding due to scale mismatch, reporting requirements, and intermediary costs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Result: </a:t>
            </a:r>
            <a:r>
              <a:rPr sz="1800">
                <a:solidFill>
                  <a:srgbClr val="333333"/>
                </a:solidFill>
                <a:latin typeface="Calibri"/>
              </a:rPr>
              <a:t>billions in available capital, but fragmented across hundreds of mechanisms with no common intelligence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UNFPA's Unique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003366"/>
                </a:solidFill>
                <a:latin typeface="Calibri"/>
              </a:rPr>
              <a:t>150+ countries </a:t>
            </a:r>
            <a:r>
              <a:rPr sz="1700">
                <a:solidFill>
                  <a:srgbClr val="333333"/>
                </a:solidFill>
                <a:latin typeface="Calibri"/>
              </a:rPr>
              <a:t>with operational presence and government partnerships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003366"/>
                </a:solidFill>
                <a:latin typeface="Calibri"/>
              </a:rPr>
              <a:t>$1.1 billion/year </a:t>
            </a:r>
            <a:r>
              <a:rPr sz="1700">
                <a:solidFill>
                  <a:srgbClr val="333333"/>
                </a:solidFill>
                <a:latin typeface="Calibri"/>
              </a:rPr>
              <a:t>in programme delivery across SRHR, maternal health, and humanitarian response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003366"/>
                </a:solidFill>
                <a:latin typeface="Calibri"/>
              </a:rPr>
              <a:t>Three Transformative Results: </a:t>
            </a:r>
            <a:r>
              <a:rPr sz="1700">
                <a:solidFill>
                  <a:srgbClr val="333333"/>
                </a:solidFill>
                <a:latin typeface="Calibri"/>
              </a:rPr>
              <a:t>zero preventable maternal deaths, zero unmet need for family planning, zero GBV and harmful practices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003366"/>
                </a:solidFill>
                <a:latin typeface="Calibri"/>
              </a:rPr>
              <a:t>World's largest </a:t>
            </a:r>
            <a:r>
              <a:rPr sz="1700">
                <a:solidFill>
                  <a:srgbClr val="333333"/>
                </a:solidFill>
                <a:latin typeface="Calibri"/>
              </a:rPr>
              <a:t>contraceptive procurer with established global supply chains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 b="1">
                <a:solidFill>
                  <a:srgbClr val="003366"/>
                </a:solidFill>
                <a:latin typeface="Calibri"/>
              </a:rPr>
              <a:t>Mandate from ICPD 1994: </a:t>
            </a:r>
            <a:r>
              <a:rPr sz="1700">
                <a:solidFill>
                  <a:srgbClr val="333333"/>
                </a:solidFill>
                <a:latin typeface="Calibri"/>
              </a:rPr>
              <a:t>rights-based approach to population and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3366"/>
                </a:solidFill>
                <a:latin typeface="Calibri"/>
              </a:defRPr>
            </a:pPr>
            <a:r>
              <a:t>UNFPA sits at the intersection of:</a:t>
            </a:r>
            <a:br/>
            <a:br/>
            <a:r>
              <a:t>   Sexual &amp; reproductive health</a:t>
            </a:r>
            <a:br/>
            <a:r>
              <a:t>   + Climate adaptation</a:t>
            </a:r>
            <a:br/>
            <a:r>
              <a:t>   + Humanitarian response</a:t>
            </a:r>
            <a:br/>
            <a:r>
              <a:t>   + Community resilience</a:t>
            </a:r>
            <a:br/>
            <a:br/>
            <a:r>
              <a:t>This intersection is exactly where</a:t>
            </a:r>
            <a:br/>
            <a:r>
              <a:t>innovative PPPs are needed most.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Knowledge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UNFPA staff preparing for funder meetings must manually research across hundreds of PDFs, reports, and evaluations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Institutional knowledge about programme areas, evidence quality, and contested topics is scattered and hard to synthesise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Real-time information about funder priorities, market conditions, and policy changes requires separate research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No single tool combines institutional intelligence with current market data for partnership preparation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Staff need to frame UNFPA programmes in the language of funders: climate finance, blended finance, impact investment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Our Solution: The Partnership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Knowledge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30+ deep-research analytical documents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Covering 6 thematic blocks across UNFPA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100+ ingested PDF source reports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Browsable, searchable, cross-referenced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Honest assessment of contested areas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Directly addresses the HMW question through the Resilience &amp; Partnerships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AI Chat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Agentic Claude Sonnet 4 with tool use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Semantic search across entire knowledge base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Real-time web search for current information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Extended thinking for complex analysis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Source attribution with clickable links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Generates pitches, briefings, talking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63040"/>
            <a:ext cx="36576" cy="4114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EDB"/>
                </a:solidFill>
                <a:latin typeface="Calibri"/>
              </a:defRPr>
            </a:pPr>
            <a:r>
              <a:t>Live at: unfpa-lkyspp-otg.vercel.app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Knowledge Base: 30+ Analytical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Each document is 3,000-14,000 words of original research and analysis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Written to answer specific questions practitioners and decision-makers actually ask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Not summaries of existing reports — original analytical synthesis with source attribution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92608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6400800"/>
              </a:tblGrid>
              <a:tr h="4963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UNFPA/PMNCH are, mandate, structure, terminology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Programme Work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Maternal health, family planning, GBV, midwifery, FGM, child marriage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&amp;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SOWP reports, census, demographic dividend, results methodology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Contested Areas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 defunding, abortion, CSE, disputed results, China programme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Partnership mandate, advocacy, accountability, overlap with UNFPA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Resilience &amp; PPPs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PPP models, climate-SRHR, Singapore ecosystem, community resilience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Resilience &amp; Partnerships: Addressing the HMW Directly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  <a:latin typeface="Calibri"/>
              </a:defRPr>
            </a:pPr>
            <a:r>
              <a:t>Block R — 4 documents purpose-built for the climate-resilience PPP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 b="1">
                <a:solidFill>
                  <a:srgbClr val="003366"/>
                </a:solidFill>
                <a:latin typeface="Calibri"/>
              </a:rPr>
              <a:t>UNFPA-R-01: PPP Models </a:t>
            </a:r>
            <a:r>
              <a:rPr sz="1500">
                <a:solidFill>
                  <a:srgbClr val="333333"/>
                </a:solidFill>
                <a:latin typeface="Calibri"/>
              </a:rPr>
              <a:t>— Taxonomy of partnership types (commodity procurement, blended finance, platforms, impact bonds). Evidence on what works and what fails. Design principles for community accountability.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 b="1">
                <a:solidFill>
                  <a:srgbClr val="003366"/>
                </a:solidFill>
                <a:latin typeface="Calibri"/>
              </a:rPr>
              <a:t>UNFPA-R-02: Climate &amp; SRHR </a:t>
            </a:r>
            <a:r>
              <a:rPr sz="1500">
                <a:solidFill>
                  <a:srgbClr val="333333"/>
                </a:solidFill>
                <a:latin typeface="Calibri"/>
              </a:rPr>
              <a:t>— The evidence linking climate change to reproductive health outcomes in Asia. How to frame SRHR within climate funding mechanisms.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 b="1">
                <a:solidFill>
                  <a:srgbClr val="003366"/>
                </a:solidFill>
                <a:latin typeface="Calibri"/>
              </a:rPr>
              <a:t>UNFPA-R-03: Singapore Ecosystem </a:t>
            </a:r>
            <a:r>
              <a:rPr sz="1500">
                <a:solidFill>
                  <a:srgbClr val="333333"/>
                </a:solidFill>
                <a:latin typeface="Calibri"/>
              </a:rPr>
              <a:t>— Singapore's financial infrastructure for resilience: family offices, DFIs, sovereign wealth, impact investors. How to engage each.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 b="1">
                <a:solidFill>
                  <a:srgbClr val="003366"/>
                </a:solidFill>
                <a:latin typeface="Calibri"/>
              </a:rPr>
              <a:t>UNFPA-R-04: Community Resilience </a:t>
            </a:r>
            <a:r>
              <a:rPr sz="1500">
                <a:solidFill>
                  <a:srgbClr val="333333"/>
                </a:solidFill>
                <a:latin typeface="Calibri"/>
              </a:rPr>
              <a:t>— Co-design principles, intergenerational models, community ownership. How to ensure finance reaches community-led initiatives.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3657600"/>
          </a:xfrm>
          <a:prstGeom prst="rect">
            <a:avLst/>
          </a:prstGeom>
          <a:solidFill>
            <a:srgbClr val="F0F6FC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3366"/>
                </a:solidFill>
                <a:latin typeface="Calibri"/>
              </a:defRPr>
            </a:pPr>
            <a:r>
              <a:t>These four documents directly answer</a:t>
            </a:r>
            <a:br/>
            <a:r>
              <a:t>the components of the HMW:</a:t>
            </a:r>
            <a:br/>
            <a:br/>
            <a:r>
              <a:t>✔ Innovative PPP design (R-01)</a:t>
            </a:r>
            <a:br/>
            <a:r>
              <a:t>✔ Climate-humanitarian finance (R-02)</a:t>
            </a:r>
            <a:br/>
            <a:r>
              <a:t>✔ Efficient flow of capital (R-03)</a:t>
            </a:r>
            <a:br/>
            <a:r>
              <a:t>✔ Community-led resilience (R-04)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AI Chat Engine: Agentic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Claude Sonnet 4 </a:t>
            </a:r>
            <a:r>
              <a:rPr sz="1600">
                <a:solidFill>
                  <a:srgbClr val="333333"/>
                </a:solidFill>
                <a:latin typeface="Calibri"/>
              </a:rPr>
              <a:t>— Anthropic's most capable model with extended thinking (8K token budget) for deep reasoning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Semantic Search (RAG) </a:t>
            </a:r>
            <a:r>
              <a:rPr sz="1600">
                <a:solidFill>
                  <a:srgbClr val="333333"/>
                </a:solidFill>
                <a:latin typeface="Calibri"/>
              </a:rPr>
              <a:t>— Vector similarity search across all knowledge base chunks using pgvector. Finds the most relevant content for any query.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Real-Time Web Search </a:t>
            </a:r>
            <a:r>
              <a:rPr sz="1600">
                <a:solidFill>
                  <a:srgbClr val="333333"/>
                </a:solidFill>
                <a:latin typeface="Calibri"/>
              </a:rPr>
              <a:t>— Anthropic's built-in web search tool fetches current funder information, market data, and policy changes.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Agentic Loop </a:t>
            </a:r>
            <a:r>
              <a:rPr sz="1600">
                <a:solidFill>
                  <a:srgbClr val="333333"/>
                </a:solidFill>
                <a:latin typeface="Calibri"/>
              </a:rPr>
              <a:t>— Claude decides which tools to use and when. Can search knowledge base, then web, then knowledge base again — up to 6 rounds.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Wave Generation </a:t>
            </a:r>
            <a:r>
              <a:rPr sz="1600">
                <a:solidFill>
                  <a:srgbClr val="333333"/>
                </a:solidFill>
                <a:latin typeface="Calibri"/>
              </a:rPr>
              <a:t>— Automatically continues long responses across up to 4 waves, preventing truncated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3366"/>
                </a:solidFill>
                <a:latin typeface="Calibri"/>
              </a:defRPr>
            </a:pPr>
            <a:r>
              <a:t>What This Means in Practice:</a:t>
            </a:r>
            <a:br/>
            <a:br/>
            <a:r>
              <a:t>A user asks: "Help me pitch our</a:t>
            </a:r>
            <a:br/>
            <a:r>
              <a:t>climate-SRHR programme to a Singapore</a:t>
            </a:r>
            <a:br/>
            <a:r>
              <a:t>family office."</a:t>
            </a:r>
            <a:br/>
            <a:br/>
            <a:r>
              <a:t>Claude:</a:t>
            </a:r>
            <a:br/>
            <a:r>
              <a:t>1. Thinks through the question</a:t>
            </a:r>
            <a:br/>
            <a:r>
              <a:t>2. Searches KB for SRHR + PPP docs</a:t>
            </a:r>
            <a:br/>
            <a:r>
              <a:t>3. Searches web for family office interests</a:t>
            </a:r>
            <a:br/>
            <a:r>
              <a:t>4. Synthesises a tailored pitch</a:t>
            </a:r>
            <a:br/>
            <a:r>
              <a:t>5. Cites all sources used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It Works: From Question to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011680" cy="3200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User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DEE"/>
                </a:solidFill>
                <a:latin typeface="Calibri"/>
              </a:defRPr>
            </a:pPr>
            <a:r>
              <a:t>Natural language query</a:t>
            </a:r>
            <a:br/>
            <a:r>
              <a:t>about UNFPA, funders,</a:t>
            </a:r>
            <a:br/>
            <a:r>
              <a:t>or partnerships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828800"/>
            <a:ext cx="2011680" cy="3200400"/>
          </a:xfrm>
          <a:prstGeom prst="rect">
            <a:avLst/>
          </a:prstGeom>
          <a:solidFill>
            <a:srgbClr val="F0F6FC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0116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Extended</a:t>
            </a:r>
            <a:br/>
            <a:r>
              <a:t>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9260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Claude reasons through</a:t>
            </a:r>
            <a:br/>
            <a:r>
              <a:t>the question with</a:t>
            </a:r>
            <a:br/>
            <a:r>
              <a:t>8K token budget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828800"/>
            <a:ext cx="2011680" cy="3200400"/>
          </a:xfrm>
          <a:prstGeom prst="rect">
            <a:avLst/>
          </a:prstGeom>
          <a:solidFill>
            <a:srgbClr val="F0F6FC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0116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Knowledge</a:t>
            </a:r>
            <a:br/>
            <a:r>
              <a:t>Base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9260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Semantic vector search</a:t>
            </a:r>
            <a:br/>
            <a:r>
              <a:t>across 30+ documents</a:t>
            </a:r>
            <a:br/>
            <a:r>
              <a:t>and 100+ PDFs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828800"/>
            <a:ext cx="2011680" cy="3200400"/>
          </a:xfrm>
          <a:prstGeom prst="rect">
            <a:avLst/>
          </a:prstGeom>
          <a:solidFill>
            <a:srgbClr val="F0F6FC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0116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Web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9260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Real-time search for</a:t>
            </a:r>
            <a:br/>
            <a:r>
              <a:t>current funder data</a:t>
            </a:r>
            <a:br/>
            <a:r>
              <a:t>and market intelligence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828800"/>
            <a:ext cx="2011680" cy="3200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0116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Response</a:t>
            </a:r>
            <a:br/>
            <a:r>
              <a:t>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9260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DEE"/>
                </a:solidFill>
                <a:latin typeface="Calibri"/>
              </a:defRPr>
            </a:pPr>
            <a:r>
              <a:t>Source-attributed</a:t>
            </a:r>
            <a:br/>
            <a:r>
              <a:t>analysis with citations</a:t>
            </a:r>
            <a:br/>
            <a:r>
              <a:t>and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29260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29260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29260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9260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The agentic loop runs up to 6 rounds — Claude decides when it has enough information to answer comprehensively.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Use Case: Preparing a Funder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  <a:latin typeface="Calibri"/>
              </a:defRPr>
            </a:pPr>
            <a:r>
              <a:t>Singapore family office interested in climate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solidFill>
            <a:srgbClr val="F0F6FC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 UNFPA country representative has a meeting</a:t>
            </a:r>
            <a:br/>
            <a:r>
              <a:t>with a Singapore-based family office that focuses</a:t>
            </a:r>
            <a:br/>
            <a:r>
              <a:t>on climate adaptation in Southeast Asia.</a:t>
            </a:r>
            <a:br/>
            <a:br/>
            <a:r>
              <a:t>They ask the Partnership Catalyst:</a:t>
            </a:r>
            <a:br/>
            <a:br/>
            <a:r>
              <a:t>"Help me pitch our climate-SRHR programme</a:t>
            </a:r>
            <a:br/>
            <a:r>
              <a:t>for a family office interested in climate</a:t>
            </a:r>
            <a:br/>
            <a:r>
              <a:t>adaptation in Southeast Asia."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DB"/>
                </a:solidFill>
                <a:latin typeface="Calibri"/>
              </a:defRPr>
            </a:pPr>
            <a:r>
              <a:t>The Catalyst Responds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✔ Searches KB for UNFPA climate-SRHR evidence</a:t>
            </a:r>
            <a:br/>
            <a:r>
              <a:t>✔ Searches KB for Singapore financial ecosystem</a:t>
            </a:r>
            <a:br/>
            <a:r>
              <a:t>✔ Searches web for family office's recent interests</a:t>
            </a:r>
            <a:br/>
            <a:r>
              <a:t>✔ Generates tailored pitch with:</a:t>
            </a:r>
            <a:br/>
            <a:r>
              <a:t>    • Programme impact data from UNFPA-R-02</a:t>
            </a:r>
            <a:br/>
            <a:r>
              <a:t>    • Singapore engagement strategy from R-03</a:t>
            </a:r>
            <a:br/>
            <a:r>
              <a:t>    • Community ownership model from R-04</a:t>
            </a:r>
            <a:br/>
            <a:r>
              <a:t>    • PPP structure options from R-01</a:t>
            </a:r>
            <a:br/>
            <a:r>
              <a:t>✔ Cites all knowledge base sources used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Use Case: Partnership Structuring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  <a:latin typeface="Calibri"/>
              </a:defRPr>
            </a:pPr>
            <a:r>
              <a:t>Comparing financing models for a resilience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A partnership team asks: "Compare blended finance, impact bonds, and South-South cooperation models for a community resilience programme in the Philippines."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  <a:latin typeface="Calibri"/>
              </a:defRPr>
            </a:pPr>
            <a:r>
              <a:t>Blended Finance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3474720" cy="54864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Combines public + private capital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De-risks private investment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Strong evidence at platform level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Scale mismatch with community initiatives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Best for: Large-scale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  <a:latin typeface="Calibri"/>
              </a:defRPr>
            </a:pPr>
            <a:r>
              <a:t>Impact Bonds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3017520"/>
            <a:ext cx="3474720" cy="54864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320040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Outcomes-based financing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Transfers risk to investors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Complex to structure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High transaction costs for small projects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Best for: Measurable health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  <a:latin typeface="Calibri"/>
              </a:defRPr>
            </a:pPr>
            <a:r>
              <a:t>South-South Cooperation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017520"/>
            <a:ext cx="3474720" cy="54864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Peer learning between countries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Lower power asymmetry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Harder to mobilise large capital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Strong community ownership potential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Best for: Knowledge + capacity building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The Catalyst draws from UNFPA-R-01 (PPP Models) to provide evidence-based comparison with practical recommendations.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Connecting Finance to Community-Led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The Partnership Catalyst bridges the gap between fragmented global finance and community-led initiatives by providing: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2651760" cy="3200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Evidence Translation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DDEE"/>
                </a:solidFill>
                <a:latin typeface="Calibri"/>
              </a:defRPr>
            </a:pPr>
            <a:r>
              <a:t>Converts UNFPA programme</a:t>
            </a:r>
            <a:br/>
            <a:r>
              <a:t>evidence into funder-</a:t>
            </a:r>
            <a:br/>
            <a:r>
              <a:t>friendly language and</a:t>
            </a:r>
            <a:br/>
            <a:r>
              <a:t>impact frameworks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560320"/>
            <a:ext cx="2651760" cy="3200400"/>
          </a:xfrm>
          <a:prstGeom prst="rect">
            <a:avLst/>
          </a:prstGeom>
          <a:solidFill>
            <a:srgbClr val="F0F6FC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Funder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3832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Real-time web search</a:t>
            </a:r>
            <a:br/>
            <a:r>
              <a:t>for funder priorities,</a:t>
            </a:r>
            <a:br/>
            <a:r>
              <a:t>recent investments, and</a:t>
            </a:r>
            <a:br/>
            <a:r>
              <a:t>partnership preferences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560320"/>
            <a:ext cx="2651760" cy="3200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Partnership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DDEE"/>
                </a:solidFill>
                <a:latin typeface="Calibri"/>
              </a:defRPr>
            </a:pPr>
            <a:r>
              <a:t>PPP models, blended</a:t>
            </a:r>
            <a:br/>
            <a:r>
              <a:t>finance structures, and</a:t>
            </a:r>
            <a:br/>
            <a:r>
              <a:t>community accountability</a:t>
            </a:r>
            <a:br/>
            <a:r>
              <a:t>frameworks from Block 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2560320"/>
            <a:ext cx="2651760" cy="3200400"/>
          </a:xfrm>
          <a:prstGeom prst="rect">
            <a:avLst/>
          </a:prstGeom>
          <a:solidFill>
            <a:srgbClr val="F0F6FC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Community Framing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3832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Ensures community</a:t>
            </a:r>
            <a:br/>
            <a:r>
              <a:t>ownership, co-design,</a:t>
            </a:r>
            <a:br/>
            <a:r>
              <a:t>and intergenerational</a:t>
            </a:r>
            <a:br/>
            <a:r>
              <a:t>equity in every pitch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Technology 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645920"/>
          <a:ext cx="914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657600"/>
              </a:tblGrid>
              <a:tr h="508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Next.js 16 + React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Server-rendered pages, interactive chat UI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Engine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Claude Sonnet 4 (Anthropic)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Agentic chat with extended thinking + tool use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OpenAI text-embedding-3-small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1536-dimension vectors for semantic search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PostgreSQL + pgvector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 storage + vector similarity search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Web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Anthropic web_search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Real-time funder and market intelligence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Rate Limiting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Upstash Redis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 queries/day per user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Serverless deployment, edge functions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Full-stack type safety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What's Next: Expansion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Expand Knowledge Base </a:t>
            </a:r>
            <a:r>
              <a:rPr sz="1600">
                <a:solidFill>
                  <a:srgbClr val="333333"/>
                </a:solidFill>
                <a:latin typeface="Calibri"/>
              </a:rPr>
              <a:t>— Add country-specific documents for priority Asia-Pacific markets. Ingest new evaluation reports and funder databases.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Funder Profiles </a:t>
            </a:r>
            <a:r>
              <a:rPr sz="1600">
                <a:solidFill>
                  <a:srgbClr val="333333"/>
                </a:solidFill>
                <a:latin typeface="Calibri"/>
              </a:rPr>
              <a:t>— Build structured profiles of key funders (DFIs, family offices, sovereign wealth funds) with investment theses and engagement histories.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Partnership Templates </a:t>
            </a:r>
            <a:r>
              <a:rPr sz="1600">
                <a:solidFill>
                  <a:srgbClr val="333333"/>
                </a:solidFill>
                <a:latin typeface="Calibri"/>
              </a:rPr>
              <a:t>— Pre-built frameworks for common PPP structures: blended finance vehicles, impact bonds, co-investment platforms.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Multi-Language Support </a:t>
            </a:r>
            <a:r>
              <a:rPr sz="1600">
                <a:solidFill>
                  <a:srgbClr val="333333"/>
                </a:solidFill>
                <a:latin typeface="Calibri"/>
              </a:rPr>
              <a:t>— Enable queries and responses in languages used across UNFPA Asia-Pacific offices.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  <a:latin typeface="Calibri"/>
              </a:rPr>
              <a:t>Usage Analytics </a:t>
            </a:r>
            <a:r>
              <a:rPr sz="1600">
                <a:solidFill>
                  <a:srgbClr val="333333"/>
                </a:solidFill>
                <a:latin typeface="Calibri"/>
              </a:rPr>
              <a:t>— Track which topics are most queried to identify knowledge gaps and guide new document creation.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Vision</a:t>
            </a:r>
            <a:br/>
            <a:br/>
            <a:r>
              <a:t>Every UNFPA staff member preparing</a:t>
            </a:r>
            <a:br/>
            <a:r>
              <a:t>for a funder conversation has instant</a:t>
            </a:r>
            <a:br/>
            <a:r>
              <a:t>access to:</a:t>
            </a:r>
            <a:br/>
            <a:br/>
            <a:r>
              <a:t>• Deep institutional intelligence</a:t>
            </a:r>
            <a:br/>
            <a:r>
              <a:t>• Current funder data</a:t>
            </a:r>
            <a:br/>
            <a:r>
              <a:t>• Evidence-based talking points</a:t>
            </a:r>
            <a:br/>
            <a:r>
              <a:t>• Partnership design frameworks</a:t>
            </a:r>
            <a:br/>
            <a:r>
              <a:t>• Community accountability models</a:t>
            </a:r>
            <a:br/>
            <a:br/>
            <a:r>
              <a:t>All in one conversation.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Team &amp;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LKYSPP Student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Rani Opula Rajan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Prachi Sharma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Abhishek Tiwari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Preeti Patil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Designed and built by Haojun See (MPP 2021)</a:t>
            </a:r>
            <a:br/>
            <a:r>
              <a:t>On The Ground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Academic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Policy Innovation Lab</a:t>
            </a:r>
            <a:br/>
            <a:r>
              <a:t>Professor Mancini</a:t>
            </a:r>
            <a:br/>
            <a:br/>
            <a:r>
              <a:t>Lee Kuan Yew School of Public Policy</a:t>
            </a:r>
            <a:br/>
            <a:r>
              <a:t>National University of Singapore</a:t>
            </a:r>
            <a:br/>
            <a:br/>
            <a:r>
              <a:t>Client: UNFPA</a:t>
            </a:r>
            <a:br/>
            <a:r>
              <a:t>Challenge B: PPP for Climate and</a:t>
            </a:r>
            <a:br/>
            <a:r>
              <a:t>Humanitarian Resilience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9EDB"/>
                </a:solidFill>
                <a:latin typeface="Calibri"/>
              </a:defRPr>
            </a:pPr>
            <a:r>
              <a:t>unfpa-lkyspp-otg.vercel.app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UNFPA@ontheground.agency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LKYSPP Policy Innovation Lab  |  Professor Mancini  |  National University of Singapore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